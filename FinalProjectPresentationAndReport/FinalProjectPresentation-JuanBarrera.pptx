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184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216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206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Taxi Cancellation Prediction | Juan Barrera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7365D"/>
                </a:solidFill>
              </a:rPr>
              <a:t>Taxi Cancellation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7365D"/>
                </a:solidFill>
              </a:rPr>
              <a:t>Prediction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</a:rPr>
              <a:t>Final Project | Applied Data Mining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Juan Barrera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Professor Patrick Maher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55280" y="1005840"/>
            <a:ext cx="3383280" cy="4389120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753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65D"/>
                </a:solidFill>
              </a:rPr>
              <a:t>Business Analytics Problem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75320" y="2240280"/>
            <a:ext cx="27432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74151"/>
                </a:solidFill>
              </a:rPr>
              <a:t>Can R-based data mining models help identify taxi bookings likely to be cancelled?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7532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</a:rPr>
              <a:t>Key result: Boosting was strongest because it detected more cancellations than KNN or Decision Tree.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</a:rPr>
              <a:t>Project Purpose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From a taxi operations problem to a predictive analytics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587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521208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374151"/>
                </a:solidFill>
              </a:rPr>
              <a:t>Taxi cancellations can create wasted driver time, inefficient dispatching, and lost revenue.</a:t>
            </a:r>
            <a:endParaRPr lang="en-US" sz="1800" dirty="0"/>
          </a:p>
          <a:p>
            <a:r>
              <a:rPr lang="en-US" sz="1800" dirty="0">
                <a:solidFill>
                  <a:srgbClr val="374151"/>
                </a:solidFill>
              </a:rPr>
              <a:t>The goal is to predict whether a booking will be cancelled using historical booking data.</a:t>
            </a:r>
            <a:endParaRPr lang="en-US" sz="1800" dirty="0"/>
          </a:p>
          <a:p>
            <a:r>
              <a:rPr lang="en-US" sz="1800" dirty="0">
                <a:solidFill>
                  <a:srgbClr val="374151"/>
                </a:solidFill>
              </a:rPr>
              <a:t>The real business value is identifying risky bookings, not only maximizing overall accuracy.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09360" y="2514600"/>
            <a:ext cx="731520" cy="68580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65D"/>
                </a:solidFill>
              </a:rPr>
              <a:t>Operational implication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0" y="2331720"/>
            <a:ext cx="35661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74151"/>
                </a:solidFill>
              </a:rPr>
              <a:t>Use predictions to support confirmation calls, dispatch planning, and risk-based booking review.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</a:rPr>
              <a:t>Data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10,000 taxi booking records and a binary cancellation target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587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</a:rPr>
              <a:t>10,000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booking records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</a:rPr>
              <a:t>19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0" y="1947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original variables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</a:rPr>
              <a:t>14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09160" y="1947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modeling variables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</a:rPr>
              <a:t>60 / 40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675120" y="1947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train / validation split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54864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374151"/>
                </a:solidFill>
              </a:rPr>
              <a:t>Target: Car_Cancellation (0 = not cancelled, 1 = cancelled).</a:t>
            </a:r>
            <a:endParaRPr lang="en-US" sz="1500" dirty="0"/>
          </a:p>
          <a:p>
            <a:r>
              <a:rPr lang="en-US" sz="1500" dirty="0">
                <a:solidFill>
                  <a:srgbClr val="374151"/>
                </a:solidFill>
              </a:rPr>
              <a:t>Predictors included vehicle model, package, travel type, area IDs, booking channel, date/time features, and trip length.</a:t>
            </a:r>
            <a:endParaRPr lang="en-US" sz="1500" dirty="0"/>
          </a:p>
          <a:p>
            <a:r>
              <a:rPr lang="en-US" sz="1500" dirty="0">
                <a:solidFill>
                  <a:srgbClr val="374151"/>
                </a:solidFill>
              </a:rPr>
              <a:t>Trip length was engineered from latitude and longitude coordinates.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7" name="Picture 16" descr="A table of numbers and letters&#10;&#10;Description automatically generated">
            <a:extLst>
              <a:ext uri="{FF2B5EF4-FFF2-40B4-BE49-F238E27FC236}">
                <a16:creationId xmlns:a16="http://schemas.microsoft.com/office/drawing/2014/main" id="{4C5FFA69-1A49-30D0-80AB-F467E22A5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203" y="2535158"/>
            <a:ext cx="5295637" cy="34633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</a:rPr>
              <a:t>Main Data Challenge: Class Imbalance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2259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Most bookings were not cancelled, so accuracy alone is misleading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587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D32"/>
                </a:solidFill>
              </a:rPr>
              <a:t>92.57%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039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not cancelled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7764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55A11"/>
                </a:solidFill>
              </a:rPr>
              <a:t>7.43%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77640" y="2039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cancelled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5669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65D"/>
                </a:solidFill>
              </a:rPr>
              <a:t>This imbalance means a model can look accurate by simply predicting “not cancelled” most of the time.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56692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374151"/>
                </a:solidFill>
              </a:rPr>
              <a:t>Accuracy must be interpreted with sensitivity, precision, F1 score, and gains charts.</a:t>
            </a:r>
            <a:endParaRPr lang="en-US" sz="1500" dirty="0"/>
          </a:p>
          <a:p>
            <a:r>
              <a:rPr lang="en-US" sz="1500" dirty="0">
                <a:solidFill>
                  <a:srgbClr val="374151"/>
                </a:solidFill>
              </a:rPr>
              <a:t>The minority class is the business-critical class because cancellations drive operational waste.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6" name="Picture 15" descr="A green square with a number of percentages&#10;&#10;Description automatically generated">
            <a:extLst>
              <a:ext uri="{FF2B5EF4-FFF2-40B4-BE49-F238E27FC236}">
                <a16:creationId xmlns:a16="http://schemas.microsoft.com/office/drawing/2014/main" id="{D771648C-DFFE-6FF1-87F0-28B632532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687990"/>
            <a:ext cx="5255288" cy="36765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</a:rPr>
              <a:t>Analytic Methods Used in 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Three main techniques plus one baseline attempt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587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2834640" cy="530352"/>
          </a:xfrm>
          <a:prstGeom prst="rect">
            <a:avLst/>
          </a:prstGeom>
          <a:solidFill>
            <a:srgbClr val="1F4E79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Technique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66160" y="1463040"/>
            <a:ext cx="7955280" cy="530352"/>
          </a:xfrm>
          <a:prstGeom prst="rect">
            <a:avLst/>
          </a:prstGeom>
          <a:solidFill>
            <a:srgbClr val="1F4E79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Why it was used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993392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K-Nearest Neighbors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66160" y="1993392"/>
            <a:ext cx="7955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Simple classification baseline using nearby records.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523744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Decision Tree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66160" y="2523744"/>
            <a:ext cx="7955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Interpretable model that shows decision rules and splits.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054096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Boosting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0" y="3054096"/>
            <a:ext cx="7955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Ensemble model that combines weak learners to improve prediction.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584448"/>
            <a:ext cx="2834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Logistic Regression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66160" y="3584448"/>
            <a:ext cx="7955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Traditional baseline; failed due to factor-level issue.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151"/>
                </a:solidFill>
              </a:rPr>
              <a:t>Selected R packages: caret, gains, rpart, rpart.plot, and adabag.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</a:rPr>
              <a:t>Model Comparison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Boosting performed best overall because it improved cancellation detection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587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2468880" cy="484632"/>
          </a:xfrm>
          <a:prstGeom prst="rect">
            <a:avLst/>
          </a:prstGeom>
          <a:solidFill>
            <a:srgbClr val="1F4E79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71800" y="1417320"/>
            <a:ext cx="1691640" cy="484632"/>
          </a:xfrm>
          <a:prstGeom prst="rect">
            <a:avLst/>
          </a:prstGeom>
          <a:solidFill>
            <a:srgbClr val="1F4E79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Accuracy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1737360" cy="484632"/>
          </a:xfrm>
          <a:prstGeom prst="rect">
            <a:avLst/>
          </a:prstGeom>
          <a:solidFill>
            <a:srgbClr val="1F4E79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Sensitivity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1737360" cy="484632"/>
          </a:xfrm>
          <a:prstGeom prst="rect">
            <a:avLst/>
          </a:prstGeom>
          <a:solidFill>
            <a:srgbClr val="1F4E79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Specificity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1417320"/>
            <a:ext cx="1737360" cy="484632"/>
          </a:xfrm>
          <a:prstGeom prst="rect">
            <a:avLst/>
          </a:prstGeom>
          <a:solidFill>
            <a:srgbClr val="1F4E79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Precision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0" y="1417320"/>
            <a:ext cx="1097280" cy="484632"/>
          </a:xfrm>
          <a:prstGeom prst="rect">
            <a:avLst/>
          </a:prstGeom>
          <a:solidFill>
            <a:srgbClr val="1F4E79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1901952"/>
            <a:ext cx="24688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KNN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71800" y="1901952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0.9212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1901952"/>
            <a:ext cx="1737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0.0063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0" y="1901952"/>
            <a:ext cx="1737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0.9995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38160" y="1901952"/>
            <a:ext cx="1737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0.5000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75520" y="1901952"/>
            <a:ext cx="10972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0.0125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386584"/>
            <a:ext cx="24688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Decision Tree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71800" y="2386584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0.9212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386584"/>
            <a:ext cx="1737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0.0000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2386584"/>
            <a:ext cx="1737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1.0000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38160" y="2386584"/>
            <a:ext cx="1737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NA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75520" y="2386584"/>
            <a:ext cx="10972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NA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2871216"/>
            <a:ext cx="24688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Boosting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71800" y="2871216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0.9232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2871216"/>
            <a:ext cx="1737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0.1206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2871216"/>
            <a:ext cx="1737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0.9919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38160" y="2871216"/>
            <a:ext cx="1737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0.5588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875520" y="2871216"/>
            <a:ext cx="10972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0.1984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3355848"/>
            <a:ext cx="24688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Logistic Regression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71800" y="3355848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NA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63440" y="3355848"/>
            <a:ext cx="1737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NA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3355848"/>
            <a:ext cx="1737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NA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8160" y="3355848"/>
            <a:ext cx="1737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NA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75520" y="3355848"/>
            <a:ext cx="10972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FC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NA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2960" y="4251960"/>
            <a:ext cx="104241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374151"/>
                </a:solidFill>
              </a:rPr>
              <a:t>KNN and Decision Tree had high accuracy but almost no cancellation detection.</a:t>
            </a:r>
            <a:endParaRPr lang="en-US" sz="1500" dirty="0"/>
          </a:p>
          <a:p>
            <a:r>
              <a:rPr lang="en-US" sz="1500" dirty="0">
                <a:solidFill>
                  <a:srgbClr val="374151"/>
                </a:solidFill>
              </a:rPr>
              <a:t>Boosting had the best accuracy, sensitivity, precision, and F1 score among working models.</a:t>
            </a:r>
            <a:endParaRPr lang="en-US" sz="1500" dirty="0"/>
          </a:p>
          <a:p>
            <a:r>
              <a:rPr lang="en-US" sz="1500" dirty="0">
                <a:solidFill>
                  <a:srgbClr val="374151"/>
                </a:solidFill>
              </a:rPr>
              <a:t>Logistic Regression failed because the validation data had a vehicle_model_id level not seen in training.</a:t>
            </a:r>
            <a:endParaRPr lang="en-US" sz="15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</a:rPr>
              <a:t>Decision Tree Finding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The pruned tree collapsed into a majority-class prediction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587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92217" y="854968"/>
            <a:ext cx="3603998" cy="27797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374151"/>
                </a:solidFill>
              </a:rPr>
              <a:t>The tree did not create useful splits after pruning.</a:t>
            </a:r>
            <a:endParaRPr lang="en-US" sz="1700" dirty="0"/>
          </a:p>
          <a:p>
            <a:r>
              <a:rPr lang="en-US" sz="1700" dirty="0">
                <a:solidFill>
                  <a:srgbClr val="374151"/>
                </a:solidFill>
              </a:rPr>
              <a:t>It predicted the majority class: 0 = not cancelled.</a:t>
            </a:r>
            <a:endParaRPr lang="en-US" sz="1700" dirty="0"/>
          </a:p>
          <a:p>
            <a:r>
              <a:rPr lang="en-US" sz="1700" dirty="0">
                <a:solidFill>
                  <a:srgbClr val="374151"/>
                </a:solidFill>
              </a:rPr>
              <a:t>Accuracy was 92.12%, but sensitivity was 0.0000.</a:t>
            </a:r>
            <a:endParaRPr lang="en-US" sz="1700" dirty="0"/>
          </a:p>
          <a:p>
            <a:r>
              <a:rPr lang="en-US" sz="1700" dirty="0">
                <a:solidFill>
                  <a:srgbClr val="374151"/>
                </a:solidFill>
              </a:rPr>
              <a:t>This proves accuracy alone is misleading for this dataset.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1" name="Picture 10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38AB2B1A-7C4F-ECDA-9E53-B7317FD14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225298"/>
            <a:ext cx="7144932" cy="4763288"/>
          </a:xfrm>
          <a:prstGeom prst="rect">
            <a:avLst/>
          </a:prstGeom>
        </p:spPr>
      </p:pic>
      <p:pic>
        <p:nvPicPr>
          <p:cNvPr id="13" name="Picture 12" descr="A graph with a line&#10;&#10;Description automatically generated">
            <a:extLst>
              <a:ext uri="{FF2B5EF4-FFF2-40B4-BE49-F238E27FC236}">
                <a16:creationId xmlns:a16="http://schemas.microsoft.com/office/drawing/2014/main" id="{B8CC7F6C-A945-86C0-0B0C-2FD331177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483" y="3350296"/>
            <a:ext cx="4728904" cy="33102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</a:rPr>
              <a:t>Best Model: Boosting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Boosting ranked cancellation-risk cases better than the baseline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587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</a:rPr>
              <a:t>92.32%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0" y="19476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4964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55A11"/>
                </a:solidFill>
              </a:rPr>
              <a:t>12.06%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549640" y="19476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sensitivity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14984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D32"/>
                </a:solidFill>
              </a:rPr>
              <a:t>0.1984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149840" y="19476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F1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2834640"/>
            <a:ext cx="457200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374151"/>
                </a:solidFill>
              </a:rPr>
              <a:t>Correctly identified 38 of 315 actual cancellations in validation data.</a:t>
            </a:r>
            <a:endParaRPr lang="en-US" sz="1400" dirty="0"/>
          </a:p>
          <a:p>
            <a:r>
              <a:rPr lang="en-US" sz="1400" dirty="0">
                <a:solidFill>
                  <a:srgbClr val="374151"/>
                </a:solidFill>
              </a:rPr>
              <a:t>Performed above the baseline in the gains chart.</a:t>
            </a:r>
            <a:endParaRPr lang="en-US" sz="1400" dirty="0"/>
          </a:p>
          <a:p>
            <a:r>
              <a:rPr lang="en-US" sz="1400" dirty="0">
                <a:solidFill>
                  <a:srgbClr val="374151"/>
                </a:solidFill>
              </a:rPr>
              <a:t>Important predictors included trip_length, vehicle_model_id, from_area_id, booking_created_DOW, to_area_id, from_date_Hour, and online_booking.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5" name="Picture 14" descr="A graph of a chart&#10;&#10;Description automatically generated">
            <a:extLst>
              <a:ext uri="{FF2B5EF4-FFF2-40B4-BE49-F238E27FC236}">
                <a16:creationId xmlns:a16="http://schemas.microsoft.com/office/drawing/2014/main" id="{C8895A67-B036-4876-9941-B6398828E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11" y="1623893"/>
            <a:ext cx="6144133" cy="43008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</a:rPr>
              <a:t>Business Implications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How the findings could support taxi operations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587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640080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374151"/>
                </a:solidFill>
              </a:rPr>
              <a:t>Use Boosting to rank bookings by cancellation risk.</a:t>
            </a:r>
            <a:endParaRPr lang="en-US" sz="1700" dirty="0"/>
          </a:p>
          <a:p>
            <a:r>
              <a:rPr lang="en-US" sz="1700" dirty="0">
                <a:solidFill>
                  <a:srgbClr val="374151"/>
                </a:solidFill>
              </a:rPr>
              <a:t>Prioritize confirmation calls or additional verification for high-risk bookings.</a:t>
            </a:r>
            <a:endParaRPr lang="en-US" sz="1700" dirty="0"/>
          </a:p>
          <a:p>
            <a:r>
              <a:rPr lang="en-US" sz="1700" dirty="0">
                <a:solidFill>
                  <a:srgbClr val="374151"/>
                </a:solidFill>
              </a:rPr>
              <a:t>Use risk scores to improve driver allocation and reduce wasted dispatches.</a:t>
            </a:r>
            <a:endParaRPr lang="en-US" sz="1700" dirty="0"/>
          </a:p>
          <a:p>
            <a:r>
              <a:rPr lang="en-US" sz="1700" dirty="0">
                <a:solidFill>
                  <a:srgbClr val="374151"/>
                </a:solidFill>
              </a:rPr>
              <a:t>Evaluate models with sensitivity and gains charts, not just accuracy.</a:t>
            </a:r>
            <a:endParaRPr lang="en-US" sz="1700" dirty="0"/>
          </a:p>
          <a:p>
            <a:r>
              <a:rPr lang="en-US" sz="1700" dirty="0">
                <a:solidFill>
                  <a:srgbClr val="374151"/>
                </a:solidFill>
              </a:rPr>
              <a:t>Future work should test resampling, cost-sensitive models, and adjusted probability thresholds.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818120" y="1645920"/>
            <a:ext cx="3200400" cy="2560320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65D"/>
                </a:solidFill>
              </a:rPr>
              <a:t>Recommendation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92440" y="2514600"/>
            <a:ext cx="2651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Use Boosting as the preferred starting model, but continue improving cancellation detection before operational deployment.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The strongest insight is about evaluation, not just prediction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587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65D"/>
                </a:solidFill>
              </a:rPr>
              <a:t>Main conclusion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51206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</a:rPr>
              <a:t>Boosting was the strongest model because it had the best accuracy, sensitivity, precision, F1 score, and gains chart performance among the working methods.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9224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65D"/>
                </a:solidFill>
              </a:rPr>
              <a:t>Key lesson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2057400"/>
            <a:ext cx="46634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</a:rPr>
              <a:t>Because cancellations were only 7.43% of the data, accuracy alone hid weak model performance. Sensitivity and gains charts revealed the real story.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840480"/>
            <a:ext cx="10332720" cy="0"/>
          </a:xfrm>
          <a:prstGeom prst="line">
            <a:avLst/>
          </a:prstGeom>
          <a:noFill/>
          <a:ln w="1778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0160" y="4251960"/>
            <a:ext cx="9601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</a:rPr>
              <a:t>Final takeaway: predictive analytics can support taxi cancellation planning, but the model must be evaluated around the business goal of detecting actual cancellations.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776</Words>
  <Application>Microsoft Macintosh PowerPoint</Application>
  <PresentationFormat>Widescreen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MIS545.EA Applied Data Mining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Taxi Cancellation Prediction</dc:title>
  <dc:subject>Taxi Cancellation Prediction Final Project</dc:subject>
  <dc:creator>Juan Barrera</dc:creator>
  <cp:lastModifiedBy>Barrera, Juan J</cp:lastModifiedBy>
  <cp:revision>2</cp:revision>
  <dcterms:created xsi:type="dcterms:W3CDTF">2026-05-10T02:33:07Z</dcterms:created>
  <dcterms:modified xsi:type="dcterms:W3CDTF">2026-05-10T03:17:16Z</dcterms:modified>
</cp:coreProperties>
</file>